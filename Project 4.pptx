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51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436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058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252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745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18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3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24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88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544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088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4292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9064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532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7282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5912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55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F362F64-B922-4B13-9721-EA4E666902C9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FD3CD-773A-4771-BD97-05BB4C81F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776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skills.com/Excel/Resources/Pivot-table-tutorial" TargetMode="External"/><Relationship Id="rId2" Type="http://schemas.openxmlformats.org/officeDocument/2006/relationships/hyperlink" Target="https://www.geeksforgeeks.org/data-analysis/exploratory-data-analysis-in-python/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5DCBF3-5FCA-FE32-6767-8463730CB3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576" y="306557"/>
            <a:ext cx="10804848" cy="5746102"/>
          </a:xfrm>
        </p:spPr>
        <p:txBody>
          <a:bodyPr anchor="t"/>
          <a:lstStyle/>
          <a:p>
            <a:pPr algn="ctr"/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Project-4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&amp; Price Prediction For Mobile Phones</a:t>
            </a:r>
            <a:b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NextHikes</a:t>
            </a: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Solutions</a:t>
            </a:r>
            <a:b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- Rakshit A Solanki</a:t>
            </a:r>
          </a:p>
        </p:txBody>
      </p:sp>
    </p:spTree>
    <p:extLst>
      <p:ext uri="{BB962C8B-B14F-4D97-AF65-F5344CB8AC3E}">
        <p14:creationId xmlns:p14="http://schemas.microsoft.com/office/powerpoint/2010/main" val="22811803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881591-D4D1-9561-758C-7F3310262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A3FDEA-0B7B-6A9A-3A33-39A188C5C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43904"/>
            <a:ext cx="11100619" cy="5864936"/>
          </a:xfrm>
        </p:spPr>
        <p:txBody>
          <a:bodyPr>
            <a:normAutofit fontScale="77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3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Price Analysis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analyzing a mobile dataset to understand how technical features influence mobile pricing.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identifying meaningful trends and hidden patterns within the dataset using proper analysis techniques.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provides a clear understanding of how pricing varies across different mobile devices and configuration.</a:t>
            </a:r>
          </a:p>
          <a:p>
            <a:pPr marL="457200" lvl="1" indent="0" algn="just">
              <a:spcAft>
                <a:spcPts val="500"/>
              </a:spcAft>
              <a:buNone/>
            </a:pPr>
            <a:endParaRPr lang="en-US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35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Understanding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attributes such as RAM, Memory, Battery capacity, Processor and price for detailed analysis.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mobile data collected from different categories and configuration.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strong base for both exploratory data analysis and advanced data techniques.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4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4DE07-3955-AFA8-9FFD-9D8865052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22A330B-A7EE-24A7-C7C7-900DE59D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23BC078-8F68-E293-90BD-856679BE9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943904"/>
            <a:ext cx="11090786" cy="5864936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Price Distribution Analysis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analyze how mobile prices are distributed across different categories like Budget, Mid-range and Premium segments.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in identifying how products are concentrated within specific price range.	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highlights demand patterns in different pricing segments.</a:t>
            </a:r>
          </a:p>
          <a:p>
            <a:pPr marL="457200" lvl="1" indent="0" algn="just">
              <a:spcAft>
                <a:spcPts val="500"/>
              </a:spcAft>
              <a:buNone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Impact Analysis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identifying how features like RAM, Memory and Battery affect mobile pricing.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explains the role of technical specification in determining product value.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helps identify which features contribute most to price range.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06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5FC3-C489-9A02-4B20-ADA4CB600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F4EDF37-0925-F2E2-9890-37326C8A7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E801C37-6857-9CF7-C8C3-A24AF20BE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606" y="943904"/>
            <a:ext cx="11080955" cy="5742033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around 541 mobile records with multiple technical features.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clear overview of different mobile configuration.	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both numerical and categorical variables.</a:t>
            </a:r>
          </a:p>
          <a:p>
            <a:pPr marL="457200" lvl="1" indent="0" algn="just">
              <a:buNone/>
            </a:pPr>
            <a:endParaRPr lang="en-US" sz="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9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Important Variables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includes variables like RAM, Processor and Price.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variables are important for understanding performance and pricing.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variable contributes to evaluating product value.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is considered as the main variable in this analysis.</a:t>
            </a:r>
          </a:p>
          <a:p>
            <a:pPr lvl="1" algn="just">
              <a:spcAft>
                <a:spcPts val="500"/>
              </a:spcAft>
              <a:buFont typeface="Wingdings" panose="05000000000000000000" pitchFamily="2" charset="2"/>
              <a:buChar char="ü"/>
            </a:pPr>
            <a:r>
              <a:rPr lang="en-US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the final outcome influenced by other features.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164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A8E45-6A21-DE22-EA70-6D9B43E6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9DD054-DCCD-9495-9EE3-CC5FFD5CE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AA8E24-1214-6B04-8C92-0C954ECD6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774" y="1012728"/>
            <a:ext cx="11090787" cy="5864936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cleaned by removing the unnecessary column as it had no relevance to the analysis.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 names were standardized by removing extra spaces, symbols and inconsistencies to improve readability.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records were identified and removed to ensure accuracy and avoid repetition in the dataset.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were checked across all columns to ensure completeness of the dataset.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types were verified and corrected whenever required to avoid errors during analysis.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processes improved the overall quality, reliability and usability of the dataset for further analysis.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883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811E7-E646-C862-50A5-A3807DDD4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0987CCB-2F99-300F-C78A-51059F01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Detection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109FD1-DED2-BE0E-7B10-796F774BE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40" y="1012728"/>
            <a:ext cx="11080954" cy="5914096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were identified using the Interquartile Range (IQR) method to detect extreme values present in the dataset.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Approximately 25 outliers were detected in the price variable which lie outside the normal range.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values represents uncommon pricing patterns compared to most mobile devices.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of the identified outliers belong to premium smartphones with advanced features.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extreme values can influence overall statical analysis if not properly considered.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also provide useful insights into premium pricing trends and market behavior.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0067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00391" y="3778086"/>
            <a:ext cx="11011506" cy="2657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analysis shows that most mobile devices fall within the mid-price range segment.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smaller number of devices belong to the high price premium category.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overall distribution is slightly right skewed due to expensive devices.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pattern helps in understanding how prices are spread across the market.</a:t>
            </a:r>
          </a:p>
          <a:p>
            <a:pPr algn="just">
              <a:spcAft>
                <a:spcPts val="500"/>
              </a:spcAft>
              <a:buClr>
                <a:schemeClr val="accent1"/>
              </a:buClr>
              <a:buSzPct val="80000"/>
              <a:tabLst>
                <a:tab pos="4572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AA8C6-8B90-C667-568B-8DF6B295A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2" y="988856"/>
            <a:ext cx="10733313" cy="258026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831BD2B-D47D-5045-7BF9-B3A76B2C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</p:spTree>
    <p:extLst>
      <p:ext uri="{BB962C8B-B14F-4D97-AF65-F5344CB8AC3E}">
        <p14:creationId xmlns:p14="http://schemas.microsoft.com/office/powerpoint/2010/main" val="1430103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62193-9597-0FBE-4E1A-B98B32D70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94458B6-09C2-03CB-3AAB-7F5F3312893C}"/>
              </a:ext>
            </a:extLst>
          </p:cNvPr>
          <p:cNvSpPr/>
          <p:nvPr/>
        </p:nvSpPr>
        <p:spPr>
          <a:xfrm>
            <a:off x="600391" y="3778086"/>
            <a:ext cx="11011506" cy="3411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most mobile devices have RAM between 4gb &amp; 8gb which is considered standard in the market.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range provides a balance between performance &amp; affordability for most users.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with higher RAM are limited and usually fall under the premium category.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highlights how RAM plays an important role in device configuration.</a:t>
            </a:r>
          </a:p>
          <a:p>
            <a:pPr algn="just">
              <a:spcAft>
                <a:spcPts val="500"/>
              </a:spcAft>
              <a:buClr>
                <a:schemeClr val="accent1"/>
              </a:buClr>
              <a:buSzPct val="80000"/>
              <a:tabLst>
                <a:tab pos="4572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9AB155F-C6BA-006D-FDE3-FE5BC041E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E6413A-F521-1F70-E263-589858B520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2" y="988856"/>
            <a:ext cx="10733313" cy="25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1735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9EF7B-6E37-A4FB-214E-A7B4DACC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16D979-48E5-3881-514F-6599F2DB7956}"/>
              </a:ext>
            </a:extLst>
          </p:cNvPr>
          <p:cNvSpPr/>
          <p:nvPr/>
        </p:nvSpPr>
        <p:spPr>
          <a:xfrm>
            <a:off x="570271" y="3778086"/>
            <a:ext cx="11031794" cy="2641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strong positive relationship between RAM capacity &amp; mobile price in the dataset.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RAM increases the average price of mobile devices also increase significantly.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is considered one of the most important factors affecting mobile pricing.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relationship helps in understanding feature-based pricing strategies.</a:t>
            </a:r>
          </a:p>
          <a:p>
            <a:pPr algn="just">
              <a:spcAft>
                <a:spcPts val="500"/>
              </a:spcAft>
              <a:buClr>
                <a:schemeClr val="accent1"/>
              </a:buClr>
              <a:buSzPct val="80000"/>
              <a:tabLst>
                <a:tab pos="4572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F3617B1-F035-59C4-6709-7AE28F9F6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43AAB4-5749-3AF8-F2F7-A947FD590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3" y="988857"/>
            <a:ext cx="10733314" cy="25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30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5559-3054-0868-490B-51B679600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AFBF22-0323-A957-3987-0EA5BA18F1F4}"/>
              </a:ext>
            </a:extLst>
          </p:cNvPr>
          <p:cNvSpPr/>
          <p:nvPr/>
        </p:nvSpPr>
        <p:spPr>
          <a:xfrm>
            <a:off x="600390" y="3768254"/>
            <a:ext cx="10982009" cy="26417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strong positive relationship between RAM capacity &amp; mobile price in the dataset.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RAM increases the average price of mobile devices also increase significantly.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is considered one of the most important factors affecting mobile pricing.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relationship helps in understanding feature-based pricing strategies.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B5DFB55-49B8-BC22-893F-6FE7B3CB3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9B419FA-7D2E-F59F-85BB-FA4D614DE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3" y="988857"/>
            <a:ext cx="10733314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026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F2A7-2B43-E0C1-8C7C-27552DFC6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D1F0BA9-4CA8-3B66-A5CF-92C0DF560EC5}"/>
              </a:ext>
            </a:extLst>
          </p:cNvPr>
          <p:cNvSpPr/>
          <p:nvPr/>
        </p:nvSpPr>
        <p:spPr>
          <a:xfrm>
            <a:off x="560439" y="3778079"/>
            <a:ext cx="11139948" cy="297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compares different mobile brands based on their average pricing in the dataset.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Apple &amp; Google have the highest average prices representing the premium segment.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Brands like IQOO &amp; nothing fall in the mid to premium range segment.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brands such as Samsung, Vivo, Redmi, Motorola and Oppo operate in lower to mid price ranges.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506CD180-260F-1AB1-16E5-DA9960A09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648079-DD10-1856-0CC8-A0761CD73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3" y="950415"/>
            <a:ext cx="10733314" cy="261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059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61D1-CC34-F668-0C97-94FFAAAB8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2D1DCA7-74EB-984A-658D-9FF0EA793A1C}"/>
              </a:ext>
            </a:extLst>
          </p:cNvPr>
          <p:cNvSpPr/>
          <p:nvPr/>
        </p:nvSpPr>
        <p:spPr>
          <a:xfrm>
            <a:off x="5576023" y="1044981"/>
            <a:ext cx="5969866" cy="5029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heatmap shows the relationship between different numerical features in the dataset.</a:t>
            </a:r>
          </a:p>
          <a:p>
            <a:pPr marL="34290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clearly indicates that RAM has a strong positive correlation with mobile price.</a:t>
            </a:r>
          </a:p>
          <a:p>
            <a:pPr marL="34290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also shows a high correlation making it another important pricing factor.</a:t>
            </a:r>
          </a:p>
          <a:p>
            <a:pPr marL="34290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&amp; other features have relatively weak correlation with price.</a:t>
            </a:r>
          </a:p>
          <a:p>
            <a:pPr marL="34290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helps in visually identifying the most impactful variables.</a:t>
            </a:r>
          </a:p>
          <a:p>
            <a:pPr marL="342900" indent="-342900" algn="just">
              <a:spcAft>
                <a:spcPts val="50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A440BED-9374-1DDE-38F0-D9C6C4479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1578F-BC46-A72C-0949-9D23D95351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35" y="1163680"/>
            <a:ext cx="5027104" cy="469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5188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0BC8A-44F1-EA0E-0A7F-88E3627AF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0BA64BE-0370-BC3C-10BD-5CBAA47C213E}"/>
              </a:ext>
            </a:extLst>
          </p:cNvPr>
          <p:cNvSpPr/>
          <p:nvPr/>
        </p:nvSpPr>
        <p:spPr>
          <a:xfrm>
            <a:off x="600391" y="3709262"/>
            <a:ext cx="11001674" cy="26571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the importance of different features in influencing mobile prices.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clearly indicates that RAM has the highest impact on price among all variables.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is the second most important feature showing strong influence on pricing.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features such as Battery, Height &amp; AI lens have very low important values.</a:t>
            </a:r>
          </a:p>
          <a:p>
            <a:pPr marL="342900" indent="-342900" algn="just">
              <a:spcAft>
                <a:spcPts val="5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Ø"/>
              <a:tabLst>
                <a:tab pos="457200" algn="l"/>
              </a:tabLst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helps in identifying which features should be prioritized.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AAC64274-1DB7-1FB4-5F2A-26C4F045B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  <a:endParaRPr lang="en-US" b="1" u="sn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4D7C12-B4B9-3C35-C03D-D159EB370B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3" y="988857"/>
            <a:ext cx="10733314" cy="2580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914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2857-B347-7375-E808-6649597DB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C73CF32-C6F5-EE1B-66BF-50391FBBF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1448084-8DBC-0395-0555-A47CDE69D3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42224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most mobile devices are concentrated in the mid-range price segment.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&amp; Memory were identified as the most influential features affecting pricing.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Outliers in the dataset mainly represent premium flagship devices with higher prices.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 capacity showed relatively low correlation and minimal impact on pricing.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distribution patterns indicates higher demand for balanced performance devices.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observations highlight important patterns in the dataset.</a:t>
            </a:r>
          </a:p>
          <a:p>
            <a:pPr algn="just">
              <a:spcAft>
                <a:spcPts val="1000"/>
              </a:spcAft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3333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674EF-2D17-32DC-1248-B78B911F8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50C8483-980A-1410-CBFA-CDB2C3951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Insights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11ED2E5-9BDF-7034-06D4-9BDE85599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22560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should focus on RAM &amp; Memory while designing mobile pricing strategies.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Mid-range segment offers the highest demand and strong competitive opportunities.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devices target a niche but high value customer segment.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based pricing can help in better product positioning.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customer preference can improve product development decision.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performance and affordability is key for market success.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insights support more effective and data driven business strategies.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3919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D962-6015-78AE-2929-1E741B67E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0955F1-8C0A-1B90-A069-976C25BEF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333"/>
            <a:ext cx="10862266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b="1" u="sng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E288991-242D-8F1D-BE6C-25B23777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022560"/>
            <a:ext cx="10862266" cy="5742033"/>
          </a:xfrm>
        </p:spPr>
        <p:txBody>
          <a:bodyPr>
            <a:normAutofit/>
          </a:bodyPr>
          <a:lstStyle/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successfully analyzed mobile pricing using data analytics techniques.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identified strong relationship between key features and mobile price.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 &amp; Memory were found to be the most important pricing factors.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provided meaningful insights for business decision making.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helped in understanding pricing patterns.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highlights the practical use of exploratory data analysis in real scenarios.</a:t>
            </a:r>
          </a:p>
          <a:p>
            <a:pPr algn="just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the importance of data analysis in practical scenarios.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Ø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2257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147915"/>
            <a:ext cx="10888392" cy="1400530"/>
          </a:xfrm>
        </p:spPr>
        <p:txBody>
          <a:bodyPr/>
          <a:lstStyle/>
          <a:p>
            <a:pPr algn="ctr"/>
            <a:r>
              <a:rPr lang="en-US" sz="4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Links Used For 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293221"/>
            <a:ext cx="10985450" cy="41954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https://www.geeksforgeeks.org/data-analysis/exploratory-data-analysis-in-python/</a:t>
            </a:r>
            <a:endParaRPr lang="en-US" sz="2500" dirty="0">
              <a:solidFill>
                <a:schemeClr val="accent3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https://www.ibm.com/think/topics/data-cleaning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https://plotly.com/python/bar-charts/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https://plotly.com/python/box-plots/</a:t>
            </a:r>
          </a:p>
          <a:p>
            <a:pPr>
              <a:spcBef>
                <a:spcPts val="0"/>
              </a:spcBef>
              <a:spcAft>
                <a:spcPts val="2000"/>
              </a:spcAft>
              <a:buFont typeface="Wingdings" panose="05000000000000000000" pitchFamily="2" charset="2"/>
              <a:buChar char="Ø"/>
            </a:pPr>
            <a:r>
              <a:rPr lang="en-US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https://plotly.com/python/heatmaps/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  <a:hlinkClick r:id="" action="ppaction://noaction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4283207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640080"/>
            <a:ext cx="10823078" cy="5608319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753358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697</TotalTime>
  <Words>1210</Words>
  <Application>Microsoft Office PowerPoint</Application>
  <PresentationFormat>Widescreen</PresentationFormat>
  <Paragraphs>182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Century Gothic</vt:lpstr>
      <vt:lpstr>Times New Roman</vt:lpstr>
      <vt:lpstr>Wingdings</vt:lpstr>
      <vt:lpstr>Wingdings 3</vt:lpstr>
      <vt:lpstr>Ion</vt:lpstr>
      <vt:lpstr>Project-4  Feature Extraction &amp; Price Prediction For Mobile Phones  NextHikes Solutions By - Rakshit A Solanki</vt:lpstr>
      <vt:lpstr>Project Overview</vt:lpstr>
      <vt:lpstr>Project Objective</vt:lpstr>
      <vt:lpstr>Dataset Information</vt:lpstr>
      <vt:lpstr>Data Cleaning Process</vt:lpstr>
      <vt:lpstr>Outlier Detection</vt:lpstr>
      <vt:lpstr>Univariate Analysis</vt:lpstr>
      <vt:lpstr>Univariate Analysis</vt:lpstr>
      <vt:lpstr>Bivariate Analysis</vt:lpstr>
      <vt:lpstr>Bivariate Analysis</vt:lpstr>
      <vt:lpstr>Bivariate Analysis</vt:lpstr>
      <vt:lpstr>Multivariate Analysis</vt:lpstr>
      <vt:lpstr>Multivariate Analysis</vt:lpstr>
      <vt:lpstr>Key Observations</vt:lpstr>
      <vt:lpstr>Business Insights</vt:lpstr>
      <vt:lpstr>Conclusion</vt:lpstr>
      <vt:lpstr>Reference Links Used For Learn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Chandni Solanki</dc:creator>
  <cp:lastModifiedBy>Chandni Solanki</cp:lastModifiedBy>
  <cp:revision>8</cp:revision>
  <dcterms:created xsi:type="dcterms:W3CDTF">2026-04-24T15:01:37Z</dcterms:created>
  <dcterms:modified xsi:type="dcterms:W3CDTF">2026-04-25T16:44:15Z</dcterms:modified>
</cp:coreProperties>
</file>